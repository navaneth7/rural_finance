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4114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  <a:latin typeface="Helvetica"/>
              </a:defRPr>
            </a:pPr>
            <a:r>
              <a:t>COMPUTER SCIENCE AND ENGINEERING • S5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0B981"/>
                </a:solidFill>
                <a:latin typeface="Helvetica"/>
              </a:defRPr>
            </a:pPr>
            <a:r>
              <a:t>ACADEMIC PORTFOLIO PRESENTATION</a:t>
            </a:r>
          </a:p>
          <a:p>
            <a:pPr>
              <a:spcAft>
                <a:spcPts val="600"/>
              </a:spcAft>
              <a:defRPr sz="4400" b="1">
                <a:solidFill>
                  <a:srgbClr val="1E1B4B"/>
                </a:solidFill>
                <a:latin typeface="Helvetica"/>
              </a:defRPr>
            </a:pPr>
            <a:r>
              <a:t>GREEN CAMPUS KPI DASHBOARD</a:t>
            </a:r>
          </a:p>
          <a:p>
            <a:pPr>
              <a:defRPr sz="1800">
                <a:solidFill>
                  <a:srgbClr val="64748B"/>
                </a:solidFill>
                <a:latin typeface="Helvetica"/>
              </a:defRPr>
            </a:pPr>
            <a:r>
              <a:t>An AI-Driven Sustainability Performance 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242316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4526280"/>
            <a:ext cx="109728" cy="10972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4348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M Sanjai</a:t>
            </a:r>
          </a:p>
          <a:p>
            <a:pPr>
              <a:defRPr sz="1100">
                <a:solidFill>
                  <a:srgbClr val="64748B"/>
                </a:solidFill>
                <a:latin typeface="Courier New"/>
              </a:defRPr>
            </a:pPr>
            <a:r>
              <a:t>Roll: 7376241CS256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4297680"/>
            <a:ext cx="242316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11880" y="4526280"/>
            <a:ext cx="109728" cy="10972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44348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Navaneth N D</a:t>
            </a:r>
          </a:p>
          <a:p>
            <a:pPr>
              <a:defRPr sz="1100">
                <a:solidFill>
                  <a:srgbClr val="64748B"/>
                </a:solidFill>
                <a:latin typeface="Courier New"/>
              </a:defRPr>
            </a:pPr>
            <a:r>
              <a:t>Roll: 7376241CS292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4297680"/>
            <a:ext cx="242316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09360" y="4526280"/>
            <a:ext cx="109728" cy="10972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4348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Ezhil Kumaran</a:t>
            </a:r>
          </a:p>
          <a:p>
            <a:pPr>
              <a:defRPr sz="1100">
                <a:solidFill>
                  <a:srgbClr val="64748B"/>
                </a:solidFill>
                <a:latin typeface="Courier New"/>
              </a:defRPr>
            </a:pPr>
            <a:r>
              <a:t>Roll: 7376241CS176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4297680"/>
            <a:ext cx="2423160" cy="1188720"/>
          </a:xfrm>
          <a:prstGeom prst="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06840" y="452628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44348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SOUNDHIRI S</a:t>
            </a:r>
          </a:p>
          <a:p>
            <a:pPr>
              <a:defRPr sz="1100" b="1">
                <a:solidFill>
                  <a:srgbClr val="10B981"/>
                </a:solidFill>
                <a:latin typeface="Helvetica"/>
              </a:defRPr>
            </a:pPr>
            <a:r>
              <a:t>PROJECT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731520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200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1B4B"/>
                </a:solidFill>
                <a:latin typeface="Helvetica"/>
              </a:defRPr>
            </a:pPr>
            <a:r>
              <a:t>Project Abstract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01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29184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64" y="1655064"/>
            <a:ext cx="54864" cy="40965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97180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The Challenge</a:t>
            </a:r>
          </a:p>
          <a:p>
            <a:pPr>
              <a:spcAft>
                <a:spcPts val="400"/>
              </a:spcAft>
              <a:defRPr sz="1150" b="1">
                <a:solidFill>
                  <a:srgbClr val="1E1B4B"/>
                </a:solidFill>
                <a:latin typeface="Helvetica"/>
              </a:defRPr>
            </a:pPr>
            <a:r>
              <a:t>• Data Silos:</a:t>
            </a:r>
            <a:r>
              <a:rPr b="0">
                <a:solidFill>
                  <a:srgbClr val="64748B"/>
                </a:solidFill>
              </a:rPr>
              <a:t> Water, waste, and solar stats exist independently.</a:t>
            </a:r>
          </a:p>
          <a:p>
            <a:pPr>
              <a:spcAft>
                <a:spcPts val="400"/>
              </a:spcAft>
              <a:defRPr sz="1150" b="1">
                <a:solidFill>
                  <a:srgbClr val="1E1B4B"/>
                </a:solidFill>
                <a:latin typeface="Helvetica"/>
              </a:defRPr>
            </a:pPr>
            <a:r>
              <a:t>• Manual Logging:</a:t>
            </a:r>
            <a:r>
              <a:rPr b="0">
                <a:solidFill>
                  <a:srgbClr val="64748B"/>
                </a:solidFill>
              </a:rPr>
              <a:t> Leads to errors and latency in audit reporting.</a:t>
            </a:r>
          </a:p>
          <a:p>
            <a:pPr>
              <a:spcAft>
                <a:spcPts val="400"/>
              </a:spcAft>
              <a:defRPr sz="1150" b="1">
                <a:solidFill>
                  <a:srgbClr val="1E1B4B"/>
                </a:solidFill>
                <a:latin typeface="Helvetica"/>
              </a:defRPr>
            </a:pPr>
            <a:r>
              <a:t>• Reactive Policies:</a:t>
            </a:r>
            <a:r>
              <a:rPr b="0">
                <a:solidFill>
                  <a:srgbClr val="64748B"/>
                </a:solidFill>
              </a:rPr>
              <a:t> Lack of warnings locks campus into high utility costs.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29184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8264" y="1655064"/>
            <a:ext cx="54864" cy="40965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297180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Our Methodology</a:t>
            </a:r>
          </a:p>
          <a:p>
            <a:pPr>
              <a:spcAft>
                <a:spcPts val="400"/>
              </a:spcAft>
              <a:defRPr sz="1150" b="1">
                <a:solidFill>
                  <a:srgbClr val="1E1B4B"/>
                </a:solidFill>
                <a:latin typeface="Helvetica"/>
              </a:defRPr>
            </a:pPr>
            <a:r>
              <a:t>• Automated Ingestion:</a:t>
            </a:r>
            <a:r>
              <a:rPr b="0">
                <a:solidFill>
                  <a:srgbClr val="64748B"/>
                </a:solidFill>
              </a:rPr>
              <a:t> Structured pipelines sync with Google Sheets API.</a:t>
            </a:r>
          </a:p>
          <a:p>
            <a:pPr>
              <a:spcAft>
                <a:spcPts val="400"/>
              </a:spcAft>
              <a:defRPr sz="1150" b="1">
                <a:solidFill>
                  <a:srgbClr val="1E1B4B"/>
                </a:solidFill>
                <a:latin typeface="Helvetica"/>
              </a:defRPr>
            </a:pPr>
            <a:r>
              <a:t>• Z-Score Analysis:</a:t>
            </a:r>
            <a:r>
              <a:rPr b="0">
                <a:solidFill>
                  <a:srgbClr val="64748B"/>
                </a:solidFill>
              </a:rPr>
              <a:t> Highlights spikes/drops in near real-time.</a:t>
            </a:r>
          </a:p>
          <a:p>
            <a:pPr>
              <a:spcAft>
                <a:spcPts val="400"/>
              </a:spcAft>
              <a:defRPr sz="1150" b="1">
                <a:solidFill>
                  <a:srgbClr val="1E1B4B"/>
                </a:solidFill>
                <a:latin typeface="Helvetica"/>
              </a:defRPr>
            </a:pPr>
            <a:r>
              <a:t>• Holt-Winters Models:</a:t>
            </a:r>
            <a:r>
              <a:rPr b="0">
                <a:solidFill>
                  <a:srgbClr val="64748B"/>
                </a:solidFill>
              </a:rPr>
              <a:t> Predicts next-month energy needs.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645920"/>
            <a:ext cx="329184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5864" y="1655064"/>
            <a:ext cx="54864" cy="40965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297180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Accreditation Impact</a:t>
            </a:r>
          </a:p>
          <a:p>
            <a:pPr>
              <a:spcAft>
                <a:spcPts val="400"/>
              </a:spcAft>
              <a:defRPr sz="1150" b="1">
                <a:solidFill>
                  <a:srgbClr val="1E1B4B"/>
                </a:solidFill>
                <a:latin typeface="Helvetica"/>
              </a:defRPr>
            </a:pPr>
            <a:r>
              <a:t>• NAAC Criteria 7:</a:t>
            </a:r>
            <a:r>
              <a:rPr b="0">
                <a:solidFill>
                  <a:srgbClr val="64748B"/>
                </a:solidFill>
              </a:rPr>
              <a:t> Ready compliance data for Green Audits.</a:t>
            </a:r>
          </a:p>
          <a:p>
            <a:pPr>
              <a:spcAft>
                <a:spcPts val="400"/>
              </a:spcAft>
              <a:defRPr sz="1150" b="1">
                <a:solidFill>
                  <a:srgbClr val="1E1B4B"/>
                </a:solidFill>
                <a:latin typeface="Helvetica"/>
              </a:defRPr>
            </a:pPr>
            <a:r>
              <a:t>• Actionable ROI:</a:t>
            </a:r>
            <a:r>
              <a:rPr b="0">
                <a:solidFill>
                  <a:srgbClr val="64748B"/>
                </a:solidFill>
              </a:rPr>
              <a:t> Simulator projects savings in ₹ and carbon offsets.</a:t>
            </a:r>
          </a:p>
          <a:p>
            <a:pPr>
              <a:spcAft>
                <a:spcPts val="400"/>
              </a:spcAft>
              <a:defRPr sz="1150" b="1">
                <a:solidFill>
                  <a:srgbClr val="1E1B4B"/>
                </a:solidFill>
                <a:latin typeface="Helvetica"/>
              </a:defRPr>
            </a:pPr>
            <a:r>
              <a:t>• Unified Scorecard:</a:t>
            </a:r>
            <a:r>
              <a:rPr b="0">
                <a:solidFill>
                  <a:srgbClr val="64748B"/>
                </a:solidFill>
              </a:rPr>
              <a:t> A composite Green Score out of 100.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Helvetica"/>
              </a:defRPr>
            </a:pPr>
            <a:r>
              <a:t>Green Campus KPI Dashboard • CSE S5 MINI Project • Page 2 of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731520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200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1B4B"/>
                </a:solidFill>
                <a:latin typeface="Helvetica"/>
              </a:defRPr>
            </a:pPr>
            <a:r>
              <a:t>Gap Analysis: The 'BEFORE'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01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0" y="365760"/>
            <a:ext cx="246888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TRADITIONAL SILO LIMITATIONS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12064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" y="1472184"/>
            <a:ext cx="54864" cy="19933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48006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✗  Information in Silos</a:t>
            </a:r>
          </a:p>
          <a:p>
            <a:pPr>
              <a:spcAft>
                <a:spcPts val="400"/>
              </a:spcAft>
              <a:defRPr sz="1100" b="1">
                <a:solidFill>
                  <a:srgbClr val="1E1B4B"/>
                </a:solidFill>
                <a:latin typeface="Helvetica"/>
              </a:defRPr>
            </a:pPr>
            <a:r>
              <a:t>• Separate Offices:</a:t>
            </a:r>
            <a:r>
              <a:rPr b="0">
                <a:solidFill>
                  <a:srgbClr val="64748B"/>
                </a:solidFill>
              </a:rPr>
              <a:t> Water and solar logs held in disparate sheets.</a:t>
            </a:r>
          </a:p>
          <a:p>
            <a:pPr>
              <a:spcAft>
                <a:spcPts val="400"/>
              </a:spcAft>
              <a:defRPr sz="1100" b="1">
                <a:solidFill>
                  <a:srgbClr val="1E1B4B"/>
                </a:solidFill>
                <a:latin typeface="Helvetica"/>
              </a:defRPr>
            </a:pPr>
            <a:r>
              <a:t>• No Central Access:</a:t>
            </a:r>
            <a:r>
              <a:rPr b="0">
                <a:solidFill>
                  <a:srgbClr val="64748B"/>
                </a:solidFill>
              </a:rPr>
              <a:t> Impedes immediate visibility of overall campus health.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12064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7064" y="1472184"/>
            <a:ext cx="54864" cy="19933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48006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✗  No Predictive Foresight</a:t>
            </a:r>
          </a:p>
          <a:p>
            <a:pPr>
              <a:spcAft>
                <a:spcPts val="400"/>
              </a:spcAft>
              <a:defRPr sz="1100" b="1">
                <a:solidFill>
                  <a:srgbClr val="1E1B4B"/>
                </a:solidFill>
                <a:latin typeface="Helvetica"/>
              </a:defRPr>
            </a:pPr>
            <a:r>
              <a:t>• Reactive Budgets:</a:t>
            </a:r>
            <a:r>
              <a:rPr b="0">
                <a:solidFill>
                  <a:srgbClr val="64748B"/>
                </a:solidFill>
              </a:rPr>
              <a:t> Run purely on historical invoices.</a:t>
            </a:r>
          </a:p>
          <a:p>
            <a:pPr>
              <a:spcAft>
                <a:spcPts val="400"/>
              </a:spcAft>
              <a:defRPr sz="1100" b="1">
                <a:solidFill>
                  <a:srgbClr val="1E1B4B"/>
                </a:solidFill>
                <a:latin typeface="Helvetica"/>
              </a:defRPr>
            </a:pPr>
            <a:r>
              <a:t>• Static Projections:</a:t>
            </a:r>
            <a:r>
              <a:rPr b="0">
                <a:solidFill>
                  <a:srgbClr val="64748B"/>
                </a:solidFill>
              </a:rPr>
              <a:t> Fail to model daily variations or reserve margins.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512064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" y="3849624"/>
            <a:ext cx="54864" cy="19933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23360"/>
            <a:ext cx="48006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✗  Invisible Anomaly Events</a:t>
            </a:r>
          </a:p>
          <a:p>
            <a:pPr>
              <a:spcAft>
                <a:spcPts val="400"/>
              </a:spcAft>
              <a:defRPr sz="1100" b="1">
                <a:solidFill>
                  <a:srgbClr val="1E1B4B"/>
                </a:solidFill>
                <a:latin typeface="Helvetica"/>
              </a:defRPr>
            </a:pPr>
            <a:r>
              <a:t>• High Losses:</a:t>
            </a:r>
            <a:r>
              <a:rPr b="0">
                <a:solidFill>
                  <a:srgbClr val="64748B"/>
                </a:solidFill>
              </a:rPr>
              <a:t> Minor leaks and line spikes remain unnoticed.</a:t>
            </a:r>
          </a:p>
          <a:p>
            <a:pPr>
              <a:spcAft>
                <a:spcPts val="400"/>
              </a:spcAft>
              <a:defRPr sz="1100" b="1">
                <a:solidFill>
                  <a:srgbClr val="1E1B4B"/>
                </a:solidFill>
                <a:latin typeface="Helvetica"/>
              </a:defRPr>
            </a:pPr>
            <a:r>
              <a:t>• Cost Accumulation:</a:t>
            </a:r>
            <a:r>
              <a:rPr b="0">
                <a:solidFill>
                  <a:srgbClr val="64748B"/>
                </a:solidFill>
              </a:rPr>
              <a:t> Faulty panel circuits run unfixed for weeks.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840480"/>
            <a:ext cx="512064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7064" y="3849624"/>
            <a:ext cx="54864" cy="19933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023360"/>
            <a:ext cx="48006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✗  No Standardized Scoring</a:t>
            </a:r>
          </a:p>
          <a:p>
            <a:pPr>
              <a:spcAft>
                <a:spcPts val="400"/>
              </a:spcAft>
              <a:defRPr sz="1100" b="1">
                <a:solidFill>
                  <a:srgbClr val="1E1B4B"/>
                </a:solidFill>
                <a:latin typeface="Helvetica"/>
              </a:defRPr>
            </a:pPr>
            <a:r>
              <a:t>• Hard Compliance:</a:t>
            </a:r>
            <a:r>
              <a:rPr b="0">
                <a:solidFill>
                  <a:srgbClr val="64748B"/>
                </a:solidFill>
              </a:rPr>
              <a:t> NAAC/NBA reviews require weeks of compiling.</a:t>
            </a:r>
          </a:p>
          <a:p>
            <a:pPr>
              <a:spcAft>
                <a:spcPts val="400"/>
              </a:spcAft>
              <a:defRPr sz="1100" b="1">
                <a:solidFill>
                  <a:srgbClr val="1E1B4B"/>
                </a:solidFill>
                <a:latin typeface="Helvetica"/>
              </a:defRPr>
            </a:pPr>
            <a:r>
              <a:t>• Unclear ROI:</a:t>
            </a:r>
            <a:r>
              <a:rPr b="0">
                <a:solidFill>
                  <a:srgbClr val="64748B"/>
                </a:solidFill>
              </a:rPr>
              <a:t> Hard to map green upgrades directly to performance index.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Helvetica"/>
              </a:defRPr>
            </a:pPr>
            <a:r>
              <a:t>Green Campus KPI Dashboard • CSE S5 MINI Project • Page 3 of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731520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200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1B4B"/>
                </a:solidFill>
                <a:latin typeface="Helvetica"/>
              </a:defRPr>
            </a:pPr>
            <a:r>
              <a:t>Gap Analysis: The 'AFTER'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01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0" y="365760"/>
            <a:ext cx="246888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INTELLIGENT GREEN 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12064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" y="1472184"/>
            <a:ext cx="54864" cy="19933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48006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✓  Unified Command Center</a:t>
            </a:r>
          </a:p>
          <a:p>
            <a:pPr>
              <a:spcAft>
                <a:spcPts val="400"/>
              </a:spcAft>
              <a:defRPr sz="1100" b="1">
                <a:solidFill>
                  <a:srgbClr val="1E1B4B"/>
                </a:solidFill>
                <a:latin typeface="Helvetica"/>
              </a:defRPr>
            </a:pPr>
            <a:r>
              <a:t>• Unified view:</a:t>
            </a:r>
            <a:r>
              <a:rPr b="0">
                <a:solidFill>
                  <a:srgbClr val="64748B"/>
                </a:solidFill>
              </a:rPr>
              <a:t> All streams integrated into a glassmorphic dashboard.</a:t>
            </a:r>
          </a:p>
          <a:p>
            <a:pPr>
              <a:spcAft>
                <a:spcPts val="400"/>
              </a:spcAft>
              <a:defRPr sz="1100" b="1">
                <a:solidFill>
                  <a:srgbClr val="1E1B4B"/>
                </a:solidFill>
                <a:latin typeface="Helvetica"/>
              </a:defRPr>
            </a:pPr>
            <a:r>
              <a:t>• Streamlined monitoring:</a:t>
            </a:r>
            <a:r>
              <a:rPr b="0">
                <a:solidFill>
                  <a:srgbClr val="64748B"/>
                </a:solidFill>
              </a:rPr>
              <a:t> Direct visibility of campus-wide resources.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12064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7064" y="1472184"/>
            <a:ext cx="54864" cy="19933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48006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✓  ML-Based Demand Forecasting</a:t>
            </a:r>
          </a:p>
          <a:p>
            <a:pPr>
              <a:spcAft>
                <a:spcPts val="400"/>
              </a:spcAft>
              <a:defRPr sz="1100" b="1">
                <a:solidFill>
                  <a:srgbClr val="1E1B4B"/>
                </a:solidFill>
                <a:latin typeface="Helvetica"/>
              </a:defRPr>
            </a:pPr>
            <a:r>
              <a:t>• Proactive scheduling:</a:t>
            </a:r>
            <a:r>
              <a:rPr b="0">
                <a:solidFill>
                  <a:srgbClr val="64748B"/>
                </a:solidFill>
              </a:rPr>
              <a:t> Holt-Winters algorithm models future loads.</a:t>
            </a:r>
          </a:p>
          <a:p>
            <a:pPr>
              <a:spcAft>
                <a:spcPts val="400"/>
              </a:spcAft>
              <a:defRPr sz="1100" b="1">
                <a:solidFill>
                  <a:srgbClr val="1E1B4B"/>
                </a:solidFill>
                <a:latin typeface="Helvetica"/>
              </a:defRPr>
            </a:pPr>
            <a:r>
              <a:t>• Grid matching:</a:t>
            </a:r>
            <a:r>
              <a:rPr b="0">
                <a:solidFill>
                  <a:srgbClr val="64748B"/>
                </a:solidFill>
              </a:rPr>
              <a:t> Enables proactive grid management and peak offsets.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512064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" y="3849624"/>
            <a:ext cx="54864" cy="19933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23360"/>
            <a:ext cx="48006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✓  Automated Defect Diagnostics</a:t>
            </a:r>
          </a:p>
          <a:p>
            <a:pPr>
              <a:spcAft>
                <a:spcPts val="400"/>
              </a:spcAft>
              <a:defRPr sz="1100" b="1">
                <a:solidFill>
                  <a:srgbClr val="1E1B4B"/>
                </a:solidFill>
                <a:latin typeface="Helvetica"/>
              </a:defRPr>
            </a:pPr>
            <a:r>
              <a:t>• Near real-time alert:</a:t>
            </a:r>
            <a:r>
              <a:rPr b="0">
                <a:solidFill>
                  <a:srgbClr val="64748B"/>
                </a:solidFill>
              </a:rPr>
              <a:t> Z-score equations detect spikes instantly.</a:t>
            </a:r>
          </a:p>
          <a:p>
            <a:pPr>
              <a:spcAft>
                <a:spcPts val="400"/>
              </a:spcAft>
              <a:defRPr sz="1100" b="1">
                <a:solidFill>
                  <a:srgbClr val="1E1B4B"/>
                </a:solidFill>
                <a:latin typeface="Helvetica"/>
              </a:defRPr>
            </a:pPr>
            <a:r>
              <a:t>• Pinpoint warning:</a:t>
            </a:r>
            <a:r>
              <a:rPr b="0">
                <a:solidFill>
                  <a:srgbClr val="64748B"/>
                </a:solidFill>
              </a:rPr>
              <a:t> Diagnostic tags isolate target faulty blocks.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840480"/>
            <a:ext cx="512064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7064" y="3849624"/>
            <a:ext cx="54864" cy="19933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023360"/>
            <a:ext cx="48006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✓  Instant Accreditation Auditing</a:t>
            </a:r>
          </a:p>
          <a:p>
            <a:pPr>
              <a:spcAft>
                <a:spcPts val="400"/>
              </a:spcAft>
              <a:defRPr sz="1100" b="1">
                <a:solidFill>
                  <a:srgbClr val="1E1B4B"/>
                </a:solidFill>
                <a:latin typeface="Helvetica"/>
              </a:defRPr>
            </a:pPr>
            <a:r>
              <a:t>• Green Score:</a:t>
            </a:r>
            <a:r>
              <a:rPr b="0">
                <a:solidFill>
                  <a:srgbClr val="64748B"/>
                </a:solidFill>
              </a:rPr>
              <a:t> Generates composite index score (84/100) automatically.</a:t>
            </a:r>
          </a:p>
          <a:p>
            <a:pPr>
              <a:spcAft>
                <a:spcPts val="400"/>
              </a:spcAft>
              <a:defRPr sz="1100" b="1">
                <a:solidFill>
                  <a:srgbClr val="1E1B4B"/>
                </a:solidFill>
                <a:latin typeface="Helvetica"/>
              </a:defRPr>
            </a:pPr>
            <a:r>
              <a:t>• Fast reports:</a:t>
            </a:r>
            <a:r>
              <a:rPr b="0">
                <a:solidFill>
                  <a:srgbClr val="64748B"/>
                </a:solidFill>
              </a:rPr>
              <a:t> Outputs print-ready NAAC-aligned audit PDFs.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Helvetica"/>
              </a:defRPr>
            </a:pPr>
            <a:r>
              <a:t>Green Campus KPI Dashboard • CSE S5 MINI Project • Page 4 of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731520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200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1B4B"/>
                </a:solidFill>
                <a:latin typeface="Helvetica"/>
              </a:defRPr>
            </a:pPr>
            <a:r>
              <a:t>Project Objectives &amp;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01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1B4B"/>
                </a:solidFill>
                <a:latin typeface="Helvetica"/>
              </a:defRPr>
            </a:pPr>
            <a:r>
              <a:t>Primary Objectives</a:t>
            </a:r>
          </a:p>
          <a:p>
            <a:pPr>
              <a:spcAft>
                <a:spcPts val="500"/>
              </a:spcAft>
              <a:defRPr sz="1150">
                <a:solidFill>
                  <a:srgbClr val="64748B"/>
                </a:solidFill>
                <a:latin typeface="Helvetica"/>
              </a:defRPr>
            </a:pPr>
            <a:r>
              <a:t>• Develop an automated ingestion model to scrape and deduplicate multi-source campus utility logs.</a:t>
            </a:r>
          </a:p>
          <a:p>
            <a:pPr>
              <a:spcAft>
                <a:spcPts val="500"/>
              </a:spcAft>
              <a:defRPr sz="1150">
                <a:solidFill>
                  <a:srgbClr val="64748B"/>
                </a:solidFill>
                <a:latin typeface="Helvetica"/>
              </a:defRPr>
            </a:pPr>
            <a:r>
              <a:t>• Implement Z-score logic to systematically flag anomaly consumption spikes.</a:t>
            </a:r>
          </a:p>
          <a:p>
            <a:pPr>
              <a:spcAft>
                <a:spcPts val="500"/>
              </a:spcAft>
              <a:defRPr sz="1150">
                <a:solidFill>
                  <a:srgbClr val="64748B"/>
                </a:solidFill>
                <a:latin typeface="Helvetica"/>
              </a:defRPr>
            </a:pPr>
            <a:r>
              <a:t>• Integrate statistical and neural predictive models to forecast electricity &amp; water usage.</a:t>
            </a:r>
          </a:p>
          <a:p>
            <a:pPr>
              <a:spcAft>
                <a:spcPts val="500"/>
              </a:spcAft>
              <a:defRPr sz="1150">
                <a:solidFill>
                  <a:srgbClr val="64748B"/>
                </a:solidFill>
                <a:latin typeface="Helvetica"/>
              </a:defRPr>
            </a:pPr>
            <a:r>
              <a:t>• Design sliders projecting bill and CO2 feedback based on operational dimming options.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 b="1">
                <a:solidFill>
                  <a:srgbClr val="1E1B4B"/>
                </a:solidFill>
                <a:latin typeface="Helvetica"/>
              </a:defRPr>
            </a:pPr>
            <a:r>
              <a:t>Project Scope</a:t>
            </a:r>
          </a:p>
          <a:p>
            <a:pPr>
              <a:spcAft>
                <a:spcPts val="500"/>
              </a:spcAft>
              <a:defRPr sz="1150">
                <a:solidFill>
                  <a:srgbClr val="64748B"/>
                </a:solidFill>
                <a:latin typeface="Helvetica"/>
              </a:defRPr>
            </a:pPr>
            <a:r>
              <a:t>• Focused on 8 primary institutional buildings and main feeders.</a:t>
            </a:r>
          </a:p>
          <a:p>
            <a:pPr>
              <a:spcAft>
                <a:spcPts val="500"/>
              </a:spcAft>
              <a:defRPr sz="1150">
                <a:solidFill>
                  <a:srgbClr val="64748B"/>
                </a:solidFill>
                <a:latin typeface="Helvetica"/>
              </a:defRPr>
            </a:pPr>
            <a:r>
              <a:t>• Tracks 8 key green domains including energy, water, waste, carbon, green cover, transport, and student participation.</a:t>
            </a:r>
          </a:p>
        </p:txBody>
      </p:sp>
      <p:pic>
        <p:nvPicPr>
          <p:cNvPr id="8" name="Picture 7" descr="green_campus_concept_17841038602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1208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5623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64748B"/>
                </a:solidFill>
                <a:latin typeface="Helvetica"/>
              </a:defRPr>
            </a:pPr>
            <a:r>
              <a:t>Concept: Integrating physical smart-grid resources with digital KPI monitoring dashboards.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Helvetica"/>
              </a:defRPr>
            </a:pPr>
            <a:r>
              <a:t>Green Campus KPI Dashboard • CSE S5 MINI Project • Page 5 of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731520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200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1B4B"/>
                </a:solidFill>
                <a:latin typeface="Helvetica"/>
              </a:defRPr>
            </a:pPr>
            <a:r>
              <a:t>System Architecture &amp; Detailed 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01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46888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64" y="1655064"/>
            <a:ext cx="54864" cy="41879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1488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1. Data Sources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Utility Invoices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Solar Meter Logs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Water Meters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Manual Waste Entry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46120" y="3474720"/>
            <a:ext cx="182880" cy="274320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645920"/>
            <a:ext cx="246888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83864" y="1655064"/>
            <a:ext cx="54864" cy="41879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828800"/>
            <a:ext cx="21488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2. Backend Ingestion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FastAPI API Endpoints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Google Sheets Scraper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SQLAlchemy ORM Core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JSON Validator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89320" y="3474720"/>
            <a:ext cx="182880" cy="274320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246888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7064" y="1655064"/>
            <a:ext cx="54864" cy="41879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828800"/>
            <a:ext cx="21488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3. Relational DB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PostgreSQL Core Schema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IndexDB browser cache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Anomaly Registers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Historical baseline data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32520" y="3474720"/>
            <a:ext cx="182880" cy="274320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1645920"/>
            <a:ext cx="246888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70264" y="1655064"/>
            <a:ext cx="54864" cy="41879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828800"/>
            <a:ext cx="21488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4. Dashboard Logic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Next.js 14 Web UI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Z-Score and HW models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Recharts UI Widgets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jsPDF Client Exporter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Helvetica"/>
              </a:defRPr>
            </a:pPr>
            <a:r>
              <a:t>Green Campus KPI Dashboard • CSE S5 MINI Project • Page 6 of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731520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200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1B4B"/>
                </a:solidFill>
                <a:latin typeface="Helvetica"/>
              </a:defRPr>
            </a:pPr>
            <a:r>
              <a:t>Technical Stack Breakdown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01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21208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64" y="1380744"/>
            <a:ext cx="54864" cy="20848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8920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Frontend UI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Next.js 14 (App Router) &amp; React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Vanilla CSS with responsive CSS grid layout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Framer-motion for smooth UI transitions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Lucide-react for sharp iconography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21208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064" y="1380744"/>
            <a:ext cx="54864" cy="20848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48920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Backend Services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Python FastAPI for high-throughput REST APIs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NumPy for forecasting and statistical diagnostics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Built-in CORS securing client requests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Direct integration with Google Sheets API v4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49039"/>
            <a:ext cx="521208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" y="3758183"/>
            <a:ext cx="54864" cy="20848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31919"/>
            <a:ext cx="48920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Data Flow &amp; Caching</a:t>
            </a:r>
          </a:p>
          <a:p>
            <a:pPr>
              <a:spcAft>
                <a:spcPts val="400"/>
              </a:spcAft>
              <a:defRPr sz="1100" b="1">
                <a:solidFill>
                  <a:srgbClr val="1E1B4B"/>
                </a:solidFill>
                <a:latin typeface="Helvetica"/>
              </a:defRPr>
            </a:pPr>
            <a:r>
              <a:t>• TanStack React-Query:</a:t>
            </a:r>
            <a:r>
              <a:rPr b="0">
                <a:solidFill>
                  <a:srgbClr val="64748B"/>
                </a:solidFill>
              </a:rPr>
              <a:t> Auto-updates and background synchronization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In-browser local storage cache for absolute offline resilience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Modular settings management for sheet syncing periods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749039"/>
            <a:ext cx="521208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7064" y="3758183"/>
            <a:ext cx="54864" cy="20848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931919"/>
            <a:ext cx="48920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Analytics &amp; Reporting Tools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Recharts for high-fidelity interactive curves and gauges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jsPDF for compiling accreditation reports directly in the client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Custom CSV parser parsing heterogeneous time formats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Helvetica"/>
              </a:defRPr>
            </a:pPr>
            <a:r>
              <a:t>Green Campus KPI Dashboard • CSE S5 MINI Project • Page 7 of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731520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200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1B4B"/>
                </a:solidFill>
                <a:latin typeface="Helvetica"/>
              </a:defRPr>
            </a:pPr>
            <a:r>
              <a:t>Core Dashboard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01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29184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64" y="1380744"/>
            <a:ext cx="54864" cy="19933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29718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Live Grid Overview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Near real-time health indicator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Solar injection monitoring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Dynamic alerts warning feed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329184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8264" y="1380744"/>
            <a:ext cx="54864" cy="19933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54480"/>
            <a:ext cx="29718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AI Grid Diagnostics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Monthly Carbon footprint logs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Equivalent tree requirements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Outlier anomaly register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329184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5864" y="1380744"/>
            <a:ext cx="54864" cy="19933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29718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AI Predictive Forecasting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Holt-Winters predicted load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Shaded confidence margins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Peak reserve calculations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49039"/>
            <a:ext cx="329184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" y="3758183"/>
            <a:ext cx="54864" cy="19933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31919"/>
            <a:ext cx="29718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Solar Microgrid Analytics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Generation KPI statistics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Grid Dependency Index bar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Weather irradiance tracking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749039"/>
            <a:ext cx="329184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98264" y="3758183"/>
            <a:ext cx="54864" cy="19933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931919"/>
            <a:ext cx="29718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Building Operations &amp; Audits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Efficiency leaderboards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Diurnal demand allocation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Diurnal HVAC/lighting charts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3749039"/>
            <a:ext cx="329184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55864" y="3758183"/>
            <a:ext cx="54864" cy="19933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3931919"/>
            <a:ext cx="29718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Raw Ledger &amp; Exporter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Multi-row TanStack table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Filtered CSV spreadsheet download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jsPDF dynamic auditor preview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Helvetica"/>
              </a:defRPr>
            </a:pPr>
            <a:r>
              <a:t>Green Campus KPI Dashboard • CSE S5 MINI Project • Page 8 of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731520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200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1B4B"/>
                </a:solidFill>
                <a:latin typeface="Helvetica"/>
              </a:defRPr>
            </a:pPr>
            <a:r>
              <a:t>UI Design &amp; Layout Showcase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01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reen_campus_ui_mockup_17841122436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371600"/>
            <a:ext cx="3749039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4F46E5"/>
                </a:solidFill>
                <a:latin typeface="Helvetica"/>
              </a:defRPr>
            </a:pPr>
            <a:r>
              <a:t>Modern Dashboards</a:t>
            </a:r>
          </a:p>
          <a:p>
            <a:pPr>
              <a:spcAft>
                <a:spcPts val="200"/>
              </a:spcAft>
              <a:defRPr sz="1200" b="1">
                <a:solidFill>
                  <a:srgbClr val="1E1B4B"/>
                </a:solidFill>
                <a:latin typeface="Helvetica"/>
              </a:defRPr>
            </a:pPr>
            <a:r>
              <a:t>• Design System: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Deep slate dark theme with frost-glass containers, neon borders, and dynamic motion states.</a:t>
            </a:r>
          </a:p>
          <a:p>
            <a:pPr>
              <a:spcAft>
                <a:spcPts val="200"/>
              </a:spcAft>
              <a:defRPr sz="1200" b="1">
                <a:solidFill>
                  <a:srgbClr val="1E1B4B"/>
                </a:solidFill>
                <a:latin typeface="Helvetica"/>
              </a:defRPr>
            </a:pPr>
            <a:r>
              <a:t>• Real-time HUD: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Key gauges rendering Green Score (84%), dependency ratios, and grid active loads.</a:t>
            </a:r>
          </a:p>
          <a:p>
            <a:pPr>
              <a:spcAft>
                <a:spcPts val="200"/>
              </a:spcAft>
              <a:defRPr sz="1200" b="1">
                <a:solidFill>
                  <a:srgbClr val="1E1B4B"/>
                </a:solidFill>
                <a:latin typeface="Helvetica"/>
              </a:defRPr>
            </a:pPr>
            <a:r>
              <a:t>• Component Design: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Floating card metrics displaying real-time power metrics, temperatures, and solar irradiance indexes.</a:t>
            </a:r>
          </a:p>
          <a:p>
            <a:pPr>
              <a:spcAft>
                <a:spcPts val="200"/>
              </a:spcAft>
              <a:defRPr sz="1200" b="1">
                <a:solidFill>
                  <a:srgbClr val="1E1B4B"/>
                </a:solidFill>
                <a:latin typeface="Helvetica"/>
              </a:defRPr>
            </a:pPr>
            <a:r>
              <a:t>• Action Center: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AI recommended alerts prioritizing direct conservation guidelines and diagnostic feedback.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Helvetica"/>
              </a:defRPr>
            </a:pPr>
            <a:r>
              <a:t>Green Campus KPI Dashboard • CSE S5 MINI Project • Page 9 of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731520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200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1B4B"/>
                </a:solidFill>
                <a:latin typeface="Helvetica"/>
              </a:defRPr>
            </a:pPr>
            <a:r>
              <a:t>AI Predictions &amp; Diagnostics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01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1B4B"/>
                </a:solidFill>
                <a:latin typeface="Helvetica"/>
              </a:defRPr>
            </a:pPr>
            <a:r>
              <a:t>Mathematical Forecasting Core</a:t>
            </a:r>
          </a:p>
          <a:p>
            <a:pPr>
              <a:spcAft>
                <a:spcPts val="200"/>
              </a:spcAft>
              <a:defRPr sz="1300" b="1">
                <a:solidFill>
                  <a:srgbClr val="1E1B4B"/>
                </a:solidFill>
                <a:latin typeface="Helvetica"/>
              </a:defRPr>
            </a:pPr>
            <a:r>
              <a:t>• Double-Seasonal Holt-Winters Smoothing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Models energy logs by tracking overlapping daily and weekly seasonal cycles with triple exponential alpha/beta/gamma smoothing coefficients.</a:t>
            </a:r>
          </a:p>
          <a:p>
            <a:pPr>
              <a:spcAft>
                <a:spcPts val="200"/>
              </a:spcAft>
              <a:defRPr sz="1300" b="1">
                <a:solidFill>
                  <a:srgbClr val="1E1B4B"/>
                </a:solidFill>
                <a:latin typeface="Helvetica"/>
              </a:defRPr>
            </a:pPr>
            <a:r>
              <a:t>• Random Forest Regression Core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Evaluates decision trees over historical parameter matrices (temperature, hour, day type) to output baseline hourly demands.</a:t>
            </a:r>
          </a:p>
          <a:p>
            <a:pPr>
              <a:spcAft>
                <a:spcPts val="200"/>
              </a:spcAft>
              <a:defRPr sz="1300" b="1">
                <a:solidFill>
                  <a:srgbClr val="1E1B4B"/>
                </a:solidFill>
                <a:latin typeface="Helvetica"/>
              </a:defRPr>
            </a:pPr>
            <a:r>
              <a:t>• Linear Trend Fallback Script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A lightweight client-side regression line script running locally in-browser if backend model APIs are unreachable.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2120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1B4B"/>
                </a:solidFill>
                <a:latin typeface="Helvetica"/>
              </a:defRPr>
            </a:pPr>
            <a:r>
              <a:t>Grid Anomaly Registers</a:t>
            </a:r>
          </a:p>
          <a:p>
            <a:pPr>
              <a:spcAft>
                <a:spcPts val="200"/>
              </a:spcAft>
              <a:defRPr sz="1300" b="1">
                <a:solidFill>
                  <a:srgbClr val="1E1B4B"/>
                </a:solidFill>
                <a:latin typeface="Helvetica"/>
              </a:defRPr>
            </a:pPr>
            <a:r>
              <a:t>• Z-Score Deviation (Threshold = 2.5)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Models historical standard deviations to tag incoming load spikes/drops exceeding 2.5 standard deviations from the hourly average.</a:t>
            </a:r>
          </a:p>
          <a:p>
            <a:pPr>
              <a:spcAft>
                <a:spcPts val="200"/>
              </a:spcAft>
              <a:defRPr sz="1300" b="1">
                <a:solidFill>
                  <a:srgbClr val="1E1B4B"/>
                </a:solidFill>
                <a:latin typeface="Helvetica"/>
              </a:defRPr>
            </a:pPr>
            <a:r>
              <a:t>• Outlier Diagnostic Solver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Categorizes usage incidents: off-peak leakage (night hours), consumption spikes (chillers), and hardware sensor errors.</a:t>
            </a:r>
          </a:p>
          <a:p>
            <a:pPr>
              <a:spcAft>
                <a:spcPts val="200"/>
              </a:spcAft>
              <a:defRPr sz="1300" b="1">
                <a:solidFill>
                  <a:srgbClr val="1E1B4B"/>
                </a:solidFill>
                <a:latin typeface="Helvetica"/>
              </a:defRPr>
            </a:pPr>
            <a:r>
              <a:t>• Root Cause Allocation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Maps anomaly events directly to physical panels and structures to isolate exact load leakage nodes.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Helvetica"/>
              </a:defRPr>
            </a:pPr>
            <a:r>
              <a:t>Green Campus KPI Dashboard • CSE S5 MINI Project • Page 10 of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731520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200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1B4B"/>
                </a:solidFill>
                <a:latin typeface="Helvetica"/>
              </a:defRPr>
            </a:pPr>
            <a:r>
              <a:t>Green Campus Score &amp; KPI Weights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01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5120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KPI Category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Weight (%)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Energy Efficiency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Carbon Footprint Offset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Water Conservation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Waste Segregation &amp; Recycling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Renewable Energy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Paperless Administrative Score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Biodiversity &amp; Green Cover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Student Green Participation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217920" y="1371600"/>
            <a:ext cx="5212080" cy="41148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09560" y="1737360"/>
            <a:ext cx="1828800" cy="18288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20116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  <a:latin typeface="Helvetica"/>
              </a:defRPr>
            </a:pPr>
            <a:r>
              <a:t>84%</a:t>
            </a:r>
          </a:p>
          <a:p>
            <a:pPr algn="ctr">
              <a:defRPr sz="1000" b="1">
                <a:solidFill>
                  <a:srgbClr val="10B981"/>
                </a:solidFill>
                <a:latin typeface="Helvetica"/>
              </a:defRPr>
            </a:pPr>
            <a:r>
              <a:t>🟢 EXCELLENT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749040"/>
            <a:ext cx="4480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E1B4B"/>
                </a:solidFill>
                <a:latin typeface="Helvetica"/>
              </a:defRPr>
            </a:pPr>
            <a:r>
              <a:t>Campus Green Score Formulation</a:t>
            </a:r>
          </a:p>
          <a:p>
            <a:pPr>
              <a:spcAft>
                <a:spcPts val="800"/>
              </a:spcAft>
              <a:defRPr sz="950" b="1">
                <a:solidFill>
                  <a:srgbClr val="10B981"/>
                </a:solidFill>
                <a:latin typeface="Courier New"/>
              </a:defRPr>
            </a:pPr>
            <a:r>
              <a:t>GS = (Energy×0.25) + (Carbon×0.20) + (Water×0.15) + (Waste×0.15) + (Renewable×0.10) + (Paperless×0.05) + (Biodiversity×0.05) + (Participation×0.05)</a:t>
            </a:r>
          </a:p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t>• Dynamically computed indices directly formatting NBA / NAAC reviews.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Helvetica"/>
              </a:defRPr>
            </a:pPr>
            <a:r>
              <a:t>Green Campus KPI Dashboard • CSE S5 MINI Project • Page 11 of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731520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200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1B4B"/>
                </a:solidFill>
                <a:latin typeface="Helvetica"/>
              </a:defRPr>
            </a:pPr>
            <a:r>
              <a:t>Smart Simulator &amp; Chatbot Utilities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01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12064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E1B4B"/>
                </a:solidFill>
                <a:latin typeface="Helvetica"/>
              </a:defRPr>
            </a:pPr>
            <a:r>
              <a:t>AI What-If Simulation Engine</a:t>
            </a:r>
          </a:p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t>Simulating real-time billing and carbon offsets: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Helvetica"/>
              </a:defRPr>
            </a:pPr>
            <a:r>
              <a:t>• HVAC Power Dimming (Set to: 30%)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880360"/>
            <a:ext cx="4389120" cy="45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2880360"/>
            <a:ext cx="1316736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59152" y="2816352"/>
            <a:ext cx="164592" cy="16459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1B4B"/>
                </a:solidFill>
                <a:latin typeface="Helvetica"/>
              </a:defRPr>
            </a:pPr>
            <a:r>
              <a:t>• Solar Capacity Upgrades (Set to: +80%)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703320"/>
            <a:ext cx="4389120" cy="45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3703320"/>
            <a:ext cx="3511296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53711" y="3639312"/>
            <a:ext cx="164592" cy="16459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976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1B4B"/>
                </a:solidFill>
                <a:latin typeface="Helvetica"/>
              </a:defRPr>
            </a:pPr>
            <a:r>
              <a:t>Simulated Offset Projections: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• Estimated Billing Savings: ₹1,48,200 / Month (14.2% reduction)</a:t>
            </a:r>
            <a:br/>
            <a:r>
              <a:t>• Carbon Savings: 2,420 kg CO2 Offset / Month</a:t>
            </a:r>
            <a:br/>
            <a:r>
              <a:t>• Environmental Impact: Equivalent to 84 mature trees planted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371600"/>
            <a:ext cx="521208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55448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E1B4B"/>
                </a:solidFill>
                <a:latin typeface="Helvetica"/>
              </a:defRPr>
            </a:pPr>
            <a:r>
              <a:t>Smart NLP Chatbot Core</a:t>
            </a:r>
          </a:p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t>Interactive dialog engine demo: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2468880"/>
            <a:ext cx="3291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1E1B4B"/>
                </a:solidFill>
                <a:latin typeface="Helvetica"/>
              </a:defRPr>
            </a:pPr>
            <a:r>
              <a:t>User: 'Which department has the highest energy consumption this week?'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383280"/>
            <a:ext cx="38404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1E1B4B"/>
                </a:solidFill>
                <a:latin typeface="Helvetica"/>
              </a:defRPr>
            </a:pPr>
            <a:r>
              <a:t>Bot: 'Mechanical Lab Block consumed 1,840 kWh, which is 12% higher than average. Z-Score flags anomaly spike.'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75488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1B4B"/>
                </a:solidFill>
                <a:latin typeface="Helvetica"/>
              </a:defRPr>
            </a:pPr>
            <a:r>
              <a:t>• Processing Core: Local keyword parsing with backend RegExp routing.</a:t>
            </a:r>
          </a:p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t>• Preset Suggestions: Renders dynamic response tables and Markdown summary grids comparing active panel parameters.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Helvetica"/>
              </a:defRPr>
            </a:pPr>
            <a:r>
              <a:t>Green Campus KPI Dashboard • CSE S5 MINI Project • Page 12 of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731520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200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1B4B"/>
                </a:solidFill>
                <a:latin typeface="Helvetica"/>
              </a:defRPr>
            </a:pPr>
            <a:r>
              <a:t>Implementation Roadmap (12-Week Schedule)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01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2468880" cy="731520"/>
          </a:xfrm>
          <a:prstGeom prst="rect">
            <a:avLst/>
          </a:prstGeom>
          <a:solidFill>
            <a:srgbClr val="1E1B4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Design &amp; Requirements</a:t>
            </a:r>
            <a:br/>
            <a:r>
              <a:t>(Weeks 1-2)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011680"/>
            <a:ext cx="2468880" cy="731520"/>
          </a:xfrm>
          <a:prstGeom prst="rect">
            <a:avLst/>
          </a:prstGeom>
          <a:solidFill>
            <a:srgbClr val="1E1B4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DB &amp; Ingestion Core</a:t>
            </a:r>
            <a:br/>
            <a:r>
              <a:t>(Weeks 3-5)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011680"/>
            <a:ext cx="2468880" cy="731520"/>
          </a:xfrm>
          <a:prstGeom prst="rect">
            <a:avLst/>
          </a:prstGeom>
          <a:solidFill>
            <a:srgbClr val="1E1B4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UI &amp; ML Integration</a:t>
            </a:r>
            <a:br/>
            <a:r>
              <a:t>(Weeks 6-9)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2011680"/>
            <a:ext cx="2468880" cy="731520"/>
          </a:xfrm>
          <a:prstGeom prst="rect">
            <a:avLst/>
          </a:prstGeom>
          <a:solidFill>
            <a:srgbClr val="1E1B4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System Testing</a:t>
            </a:r>
            <a:br/>
            <a:r>
              <a:t>(Weeks 10-12)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1520" y="3200400"/>
          <a:ext cx="1072865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011680"/>
                <a:gridCol w="5516575"/>
              </a:tblGrid>
              <a:tr h="51206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Key Activities &amp; Deliverables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Phase 1 &amp; 2: Req. Analysis &amp;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Weeks 1–2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Define sustainability KPIs, system architecture, database schema, and UI prototype. Deliverable: SRS &amp; Design Mockups.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Phase 3 &amp; 4: Data Ingestion &amp; Backend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Weeks 3–5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Initialize PostgreSQL database, program CSV pipeline parsers, and write REST APIs. Deliverable: Functional backend API.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Phase 5 &amp; 6: Frontend UI &amp; AI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Weeks 6–9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Build glassmorphic Next.js pages, integrate Holt-Winters forecasting, and construct anomaly registers. Deliverable: Prediction core.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Phase 7 &amp; 8: Testing &amp; Deployment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Weeks 10–12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Perform unit &amp; integration audits, run UAT, prepare documentation, and deploy production containers. Deliverable: Fully working app.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Helvetica"/>
              </a:defRPr>
            </a:pPr>
            <a:r>
              <a:t>Green Campus KPI Dashboard • CSE S5 MINI Project • Page 13 of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731520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200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1B4B"/>
                </a:solidFill>
                <a:latin typeface="Helvetica"/>
              </a:defRPr>
            </a:pPr>
            <a:r>
              <a:t>Risk Management &amp; Mitigations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01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97280"/>
                <a:gridCol w="1097280"/>
                <a:gridCol w="5608015"/>
              </a:tblGrid>
              <a:tr h="73152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Risk Description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Mitigation &amp; Contingency Strategy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R1: Incomplete or missing sustainability records from departments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EF4444"/>
                          </a:solidFill>
                          <a:latin typeface="Helvetica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Integrate automated fallback states using representative historical baseline records.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R2: Noisy sensor logs leading to skewed KPI calculations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EF4444"/>
                          </a:solidFill>
                          <a:latin typeface="Helvetica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Build clean validation parsers to catch cumulative meter resets and out-of-bound errors.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R3: Statistical AI models yielding high forecasting error rates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D97706"/>
                          </a:solidFill>
                          <a:latin typeface="Helvetica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Retrain models continuously and run a fallback lightweight browser-based regression model.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R4: UI latency when rendering large historical spreadsheets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D97706"/>
                          </a:solidFill>
                          <a:latin typeface="Helvetica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Optimize database indexing and cache calculations using React-Query query cache.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R5: Unauthorized access to campus grid controls and dashboard settings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E1B4B"/>
                          </a:solidFill>
                          <a:latin typeface="Helvetica"/>
                        </a:defRPr>
                      </a:pPr>
                      <a:r>
                        <a:t>Enforce Role-Based Access Control (RBAC), hash passwords, and require secure HTTPS/TLS.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Helvetica"/>
              </a:defRPr>
            </a:pPr>
            <a:r>
              <a:t>Green Campus KPI Dashboard • CSE S5 MINI Project • Page 14 of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731520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0" rIns="0"/>
          <a:lstStyle/>
          <a:p>
            <a:pPr algn="ct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200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1B4B"/>
                </a:solidFill>
                <a:latin typeface="Helvetica"/>
              </a:defRPr>
            </a:pPr>
            <a:r>
              <a:t>Expected Outcomes &amp;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01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12064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64" y="1380744"/>
            <a:ext cx="5102352" cy="914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1B4B"/>
                </a:solidFill>
                <a:latin typeface="Helvetica"/>
              </a:defRPr>
            </a:pPr>
            <a:r>
              <a:t>Key Project Deliverables</a:t>
            </a:r>
          </a:p>
          <a:p>
            <a:pPr>
              <a:spcAft>
                <a:spcPts val="200"/>
              </a:spcAft>
              <a:defRPr sz="1250" b="1">
                <a:solidFill>
                  <a:srgbClr val="1E1B4B"/>
                </a:solidFill>
                <a:latin typeface="Helvetica"/>
              </a:defRPr>
            </a:pPr>
            <a:r>
              <a:t>• Centralized Web Application: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Production Next.js 14 frontend and high-throughput Python FastAPI backend microservice.</a:t>
            </a:r>
          </a:p>
          <a:p>
            <a:pPr>
              <a:spcAft>
                <a:spcPts val="200"/>
              </a:spcAft>
              <a:defRPr sz="1250" b="1">
                <a:solidFill>
                  <a:srgbClr val="1E1B4B"/>
                </a:solidFill>
                <a:latin typeface="Helvetica"/>
              </a:defRPr>
            </a:pPr>
            <a:r>
              <a:t>• Aggregated Campus Database: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Relational PostgreSQL database schema holding historical grid, solar, and water records.</a:t>
            </a:r>
          </a:p>
          <a:p>
            <a:pPr>
              <a:spcAft>
                <a:spcPts val="200"/>
              </a:spcAft>
              <a:defRPr sz="1250" b="1">
                <a:solidFill>
                  <a:srgbClr val="1E1B4B"/>
                </a:solidFill>
                <a:latin typeface="Helvetica"/>
              </a:defRPr>
            </a:pPr>
            <a:r>
              <a:t>• Technical Reports Generator: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Client-side PDF compiler (jsPDF) producing accredited sustainability logs.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12064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064" y="1380744"/>
            <a:ext cx="510235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1B4B"/>
                </a:solidFill>
                <a:latin typeface="Helvetica"/>
              </a:defRPr>
            </a:pPr>
            <a:r>
              <a:t>Institutional Value &amp; ESG Impact</a:t>
            </a:r>
          </a:p>
          <a:p>
            <a:pPr>
              <a:spcAft>
                <a:spcPts val="200"/>
              </a:spcAft>
              <a:defRPr sz="1250" b="1">
                <a:solidFill>
                  <a:srgbClr val="1E1B4B"/>
                </a:solidFill>
                <a:latin typeface="Helvetica"/>
              </a:defRPr>
            </a:pPr>
            <a:r>
              <a:t>• Evidence-Based Accreditations: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Supports NBA and NAAC audits by producing transparent, continuous audit files.</a:t>
            </a:r>
          </a:p>
          <a:p>
            <a:pPr>
              <a:spcAft>
                <a:spcPts val="200"/>
              </a:spcAft>
              <a:defRPr sz="1250" b="1">
                <a:solidFill>
                  <a:srgbClr val="1E1B4B"/>
                </a:solidFill>
                <a:latin typeface="Helvetica"/>
              </a:defRPr>
            </a:pPr>
            <a:r>
              <a:t>• Resource &amp; Cost Savings: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Drives a projected 10–15% operational utility billing drop through proactive alarm routines.</a:t>
            </a:r>
          </a:p>
          <a:p>
            <a:pPr>
              <a:spcAft>
                <a:spcPts val="200"/>
              </a:spcAft>
              <a:defRPr sz="1250" b="1">
                <a:solidFill>
                  <a:srgbClr val="1E1B4B"/>
                </a:solidFill>
                <a:latin typeface="Helvetica"/>
              </a:defRPr>
            </a:pPr>
            <a:r>
              <a:t>• Proactive Campus Governance: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Helvetica"/>
              </a:defRPr>
            </a:pPr>
            <a:r>
              <a:t>Transitions management structures from retrospective bills to data-driven ML insights.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Helvetica"/>
              </a:defRPr>
            </a:pPr>
            <a:r>
              <a:t>Green Campus KPI Dashboard • CSE S5 MINI Project • Page 15 of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